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D97706"/>
                </a:solidFill>
                <a:latin typeface="Arial"/>
              </a:defRPr>
            </a:pPr>
            <a:r>
              <a:t>PHYSIOXAI</a:t>
            </a:r>
          </a:p>
          <a:p>
            <a:pPr>
              <a:spcBef>
                <a:spcPts val="1000"/>
              </a:spcBef>
              <a:defRPr sz="2400">
                <a:solidFill>
                  <a:srgbClr val="F0F0F0"/>
                </a:solidFill>
                <a:latin typeface="Arial"/>
              </a:defRPr>
            </a:pPr>
            <a:r>
              <a:t>Physics-Grounded Explainable AI for Physical Signal Classification</a:t>
            </a:r>
          </a:p>
          <a:p>
            <a:pPr>
              <a:spcBef>
                <a:spcPts val="3000"/>
              </a:spcBef>
              <a:defRPr sz="1400">
                <a:solidFill>
                  <a:srgbClr val="A0A5AF"/>
                </a:solidFill>
                <a:latin typeface="Courier New"/>
              </a:defRPr>
            </a:pPr>
            <a:r>
              <a:t>Nano Technology Hackathon Project | Vibration Sensor Analytics Workstation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ourier New"/>
              </a:defRPr>
            </a:pPr>
            <a:r>
              <a:t>PHYSIOXAI // NANO TECHNOLOGY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0F0F0"/>
                </a:solidFill>
                <a:latin typeface="Arial"/>
              </a:defRPr>
            </a:pPr>
            <a:r>
              <a:t>1. The Core Hackathon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71D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❌ The AI Shortcut Trap</a:t>
            </a:r>
          </a:p>
          <a:p>
            <a:pPr>
              <a:spcBef>
                <a:spcPts val="1400"/>
              </a:spcBef>
              <a:defRPr sz="1400">
                <a:solidFill>
                  <a:srgbClr val="F0F0F0"/>
                </a:solidFill>
              </a:defRPr>
            </a:pPr>
            <a:r>
              <a:t>• Traditional AI models report 99% accuracy on signal datasets.</a:t>
            </a:r>
          </a:p>
          <a:p>
            <a:pPr>
              <a:spcBef>
                <a:spcPts val="1400"/>
              </a:spcBef>
              <a:defRPr sz="1400">
                <a:solidFill>
                  <a:srgbClr val="F0F0F0"/>
                </a:solidFill>
              </a:defRPr>
            </a:pPr>
            <a:r>
              <a:t>• However, models often learn spurious noise or background artifacts rather than true physical mechanisms.</a:t>
            </a:r>
          </a:p>
          <a:p>
            <a:pPr>
              <a:spcBef>
                <a:spcPts val="1400"/>
              </a:spcBef>
              <a:defRPr sz="1400">
                <a:solidFill>
                  <a:srgbClr val="F0F0F0"/>
                </a:solidFill>
              </a:defRPr>
            </a:pPr>
            <a:r>
              <a:t>• In safety-critical applications (aviation, nuclear, cleanrooms), unverified black-box predictions are unacceptable.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4171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✅ The PhysioXAI Requirement</a:t>
            </a:r>
          </a:p>
          <a:p>
            <a:pPr>
              <a:spcBef>
                <a:spcPts val="1400"/>
              </a:spcBef>
              <a:defRPr sz="1400">
                <a:solidFill>
                  <a:srgbClr val="F0F0F0"/>
                </a:solidFill>
              </a:defRPr>
            </a:pPr>
            <a:r>
              <a:t>• Explain AI predictions through measurable physical features.</a:t>
            </a:r>
          </a:p>
          <a:p>
            <a:pPr>
              <a:spcBef>
                <a:spcPts val="1400"/>
              </a:spcBef>
              <a:defRPr sz="1400">
                <a:solidFill>
                  <a:srgbClr val="F0F0F0"/>
                </a:solidFill>
              </a:defRPr>
            </a:pPr>
            <a:r>
              <a:t>• Perform Controlled Physical Intervention directly on raw signal frequency components.</a:t>
            </a:r>
          </a:p>
          <a:p>
            <a:pPr>
              <a:spcBef>
                <a:spcPts val="1400"/>
              </a:spcBef>
              <a:defRPr sz="1400">
                <a:solidFill>
                  <a:srgbClr val="F0F0F0"/>
                </a:solidFill>
              </a:defRPr>
            </a:pPr>
            <a:r>
              <a:t>• Re-evaluate modified signals using the EXACT SAME trained model.</a:t>
            </a:r>
          </a:p>
          <a:p>
            <a:pPr>
              <a:spcBef>
                <a:spcPts val="1400"/>
              </a:spcBef>
              <a:defRPr sz="1400">
                <a:solidFill>
                  <a:srgbClr val="F0F0F0"/>
                </a:solidFill>
              </a:defRPr>
            </a:pPr>
            <a:r>
              <a:t>• Provide reproducible empirical proof of model sensitivity.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ourier New"/>
              </a:defRPr>
            </a:pPr>
            <a:r>
              <a:t>PHYSIOXAI // NANO TECHNOLOGY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0F0F0"/>
                </a:solidFill>
                <a:latin typeface="Arial"/>
              </a:defRPr>
            </a:pPr>
            <a:r>
              <a:t>2. Anti-Cheating Pipeline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14171D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>
              <a:defRPr sz="2000" b="1">
                <a:solidFill>
                  <a:srgbClr val="D97706"/>
                </a:solidFill>
              </a:defRPr>
            </a:pPr>
            <a:r>
              <a:t>Strict Anti-Cheating Execution Flow</a:t>
            </a:r>
          </a:p>
          <a:p>
            <a:pPr>
              <a:spcBef>
                <a:spcPts val="1200"/>
              </a:spcBef>
              <a:defRPr sz="1400">
                <a:solidFill>
                  <a:srgbClr val="F0F0F0"/>
                </a:solidFill>
              </a:defRPr>
            </a:pPr>
            <a:r>
              <a:t>1. Raw Vibration Signal Input → Single-Sided Fast Fourier Transform (FFT).</a:t>
            </a:r>
          </a:p>
          <a:p>
            <a:pPr>
              <a:spcBef>
                <a:spcPts val="1200"/>
              </a:spcBef>
              <a:defRPr sz="1400">
                <a:solidFill>
                  <a:srgbClr val="F0F0F0"/>
                </a:solidFill>
              </a:defRPr>
            </a:pPr>
            <a:r>
              <a:t>2. Physical Feature Extraction → RMS, Peak, Crest Factor, Spectral Centroid &amp; 100-140Hz Band Energy.</a:t>
            </a:r>
          </a:p>
          <a:p>
            <a:pPr>
              <a:spcBef>
                <a:spcPts val="1200"/>
              </a:spcBef>
              <a:defRPr sz="1400">
                <a:solidFill>
                  <a:srgbClr val="F0F0F0"/>
                </a:solidFill>
              </a:defRPr>
            </a:pPr>
            <a:r>
              <a:t>3. Controlled Frequency Intervention → Multiply target band energy in frequency domain via FFT.</a:t>
            </a:r>
          </a:p>
          <a:p>
            <a:pPr>
              <a:spcBef>
                <a:spcPts val="1200"/>
              </a:spcBef>
              <a:defRPr sz="1400">
                <a:solidFill>
                  <a:srgbClr val="F0F0F0"/>
                </a:solidFill>
              </a:defRPr>
            </a:pPr>
            <a:r>
              <a:t>4. Signal Synthesis → Reconstruct modified time-domain signal using Inverse FFT (IFFT).</a:t>
            </a:r>
          </a:p>
          <a:p>
            <a:pPr>
              <a:spcBef>
                <a:spcPts val="1200"/>
              </a:spcBef>
              <a:defRPr sz="1400">
                <a:solidFill>
                  <a:srgbClr val="F0F0F0"/>
                </a:solidFill>
              </a:defRPr>
            </a:pPr>
            <a:r>
              <a:t>5. Same ML Model Evaluation → Re-extract features &amp; evaluate blindly via static Random Forest artifact.</a:t>
            </a:r>
          </a:p>
          <a:p>
            <a:pPr>
              <a:spcBef>
                <a:spcPts val="1200"/>
              </a:spcBef>
              <a:defRPr sz="1400">
                <a:solidFill>
                  <a:srgbClr val="F0F0F0"/>
                </a:solidFill>
              </a:defRPr>
            </a:pPr>
            <a:r>
              <a:t>6. Empirical Delta Output → Measure exact physical feature change vs. AI prediction probability shift.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ourier New"/>
              </a:defRPr>
            </a:pPr>
            <a:r>
              <a:t>PHYSIOXAI // NANO TECHNOLOGY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0F0F0"/>
                </a:solidFill>
                <a:latin typeface="Arial"/>
              </a:defRPr>
            </a:pPr>
            <a:r>
              <a:t>3. Domain Feature Extraction &amp; FFT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777240"/>
          </a:xfrm>
          <a:prstGeom prst="roundRect">
            <a:avLst/>
          </a:prstGeom>
          <a:solidFill>
            <a:srgbClr val="14171D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Characteristic Band Energy (100–140Hz)</a:t>
            </a:r>
          </a:p>
          <a:p>
            <a:pPr>
              <a:defRPr sz="1200">
                <a:solidFill>
                  <a:srgbClr val="A0A5AF"/>
                </a:solidFill>
              </a:defRPr>
            </a:pPr>
            <a:r>
              <a:t>Primary fault indicator for bearing pass frequency harmonics.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07040" cy="777240"/>
          </a:xfrm>
          <a:prstGeom prst="roundRect">
            <a:avLst/>
          </a:prstGeom>
          <a:solidFill>
            <a:srgbClr val="14171D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600" b="1">
                <a:solidFill>
                  <a:srgbClr val="F0F0F0"/>
                </a:solidFill>
              </a:defRPr>
            </a:pPr>
            <a:r>
              <a:t>RMS Amplitude (Root Mean Square)</a:t>
            </a:r>
          </a:p>
          <a:p>
            <a:pPr>
              <a:defRPr sz="1200">
                <a:solidFill>
                  <a:srgbClr val="A0A5AF"/>
                </a:solidFill>
              </a:defRPr>
            </a:pPr>
            <a:r>
              <a:t>Total signal power measure across time domain waveform.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07040" cy="777240"/>
          </a:xfrm>
          <a:prstGeom prst="roundRect">
            <a:avLst/>
          </a:prstGeom>
          <a:solidFill>
            <a:srgbClr val="14171D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600" b="1">
                <a:solidFill>
                  <a:srgbClr val="F0F0F0"/>
                </a:solidFill>
              </a:defRPr>
            </a:pPr>
            <a:r>
              <a:t>Peak Amplitude &amp; Crest Factor</a:t>
            </a:r>
          </a:p>
          <a:p>
            <a:pPr>
              <a:defRPr sz="1200">
                <a:solidFill>
                  <a:srgbClr val="A0A5AF"/>
                </a:solidFill>
              </a:defRPr>
            </a:pPr>
            <a:r>
              <a:t>Peak-to-RMS ratio highlighting transient impact spikes.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07040" cy="777240"/>
          </a:xfrm>
          <a:prstGeom prst="roundRect">
            <a:avLst/>
          </a:prstGeom>
          <a:solidFill>
            <a:srgbClr val="14171D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600" b="1">
                <a:solidFill>
                  <a:srgbClr val="F0F0F0"/>
                </a:solidFill>
              </a:defRPr>
            </a:pPr>
            <a:r>
              <a:t>Spectral Centroid &amp; Total Energy</a:t>
            </a:r>
          </a:p>
          <a:p>
            <a:pPr>
              <a:defRPr sz="1200">
                <a:solidFill>
                  <a:srgbClr val="A0A5AF"/>
                </a:solidFill>
              </a:defRPr>
            </a:pPr>
            <a:r>
              <a:t>Center of spectral mass and total frequency power distribution.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07040" cy="777240"/>
          </a:xfrm>
          <a:prstGeom prst="roundRect">
            <a:avLst/>
          </a:prstGeom>
          <a:solidFill>
            <a:srgbClr val="14171D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600" b="1">
                <a:solidFill>
                  <a:srgbClr val="F0F0F0"/>
                </a:solidFill>
              </a:defRPr>
            </a:pPr>
            <a:r>
              <a:t>Dominant Frequency (Hz)</a:t>
            </a:r>
          </a:p>
          <a:p>
            <a:pPr>
              <a:defRPr sz="1200">
                <a:solidFill>
                  <a:srgbClr val="A0A5AF"/>
                </a:solidFill>
              </a:defRPr>
            </a:pPr>
            <a:r>
              <a:t>Peak magnitude frequency indicating baseline shaft rotation.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ourier New"/>
              </a:defRPr>
            </a:pPr>
            <a:r>
              <a:t>PHYSIOXAI // NANO TECHNOLOGY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0F0F0"/>
                </a:solidFill>
                <a:latin typeface="Arial"/>
              </a:defRPr>
            </a:pPr>
            <a:r>
              <a:t>4. Workstation Interface: Baseline Signal Analysis</a:t>
            </a:r>
          </a:p>
        </p:txBody>
      </p:sp>
      <p:pic>
        <p:nvPicPr>
          <p:cNvPr id="5" name="Picture 4" descr="slide_baselin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07040" cy="59664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ourier New"/>
              </a:defRPr>
            </a:pPr>
            <a:r>
              <a:t>PHYSIOXAI // NANO TECHNOLOGY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0F0F0"/>
                </a:solidFill>
                <a:latin typeface="Arial"/>
              </a:defRPr>
            </a:pPr>
            <a:r>
              <a:t>5. Controlled Physical Intervention Engine</a:t>
            </a:r>
          </a:p>
        </p:txBody>
      </p:sp>
      <p:pic>
        <p:nvPicPr>
          <p:cNvPr id="5" name="Picture 4" descr="slide_interven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07040" cy="59664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ourier New"/>
              </a:defRPr>
            </a:pPr>
            <a:r>
              <a:t>PHYSIOXAI // NANO TECHNOLOGY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0F0F0"/>
                </a:solidFill>
                <a:latin typeface="Arial"/>
              </a:defRPr>
            </a:pPr>
            <a:r>
              <a:t>6. Scientific Methodology &amp; Integrity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14171D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>
              <a:defRPr sz="2000" b="1">
                <a:solidFill>
                  <a:srgbClr val="D97706"/>
                </a:solidFill>
              </a:defRPr>
            </a:pPr>
            <a:r>
              <a:t>Strict Scientific Wording Guidelines</a:t>
            </a:r>
          </a:p>
          <a:p>
            <a:pPr>
              <a:spcBef>
                <a:spcPts val="1400"/>
              </a:spcBef>
              <a:defRPr sz="1600" b="1">
                <a:solidFill>
                  <a:srgbClr val="10B981"/>
                </a:solidFill>
              </a:defRPr>
            </a:pPr>
            <a:r>
              <a:t>✅ APPROVED SCIENTIFIC CLAIMS</a:t>
            </a:r>
          </a:p>
          <a:p>
            <a:pPr>
              <a:spcBef>
                <a:spcPts val="400"/>
              </a:spcBef>
              <a:defRPr sz="1300">
                <a:solidFill>
                  <a:srgbClr val="F0F0F0"/>
                </a:solidFill>
              </a:defRPr>
            </a:pPr>
            <a:r>
              <a:t>  • "The system demonstrates sensitivity to a measurable physical feature through controlled intervention."</a:t>
            </a:r>
          </a:p>
          <a:p>
            <a:pPr>
              <a:spcBef>
                <a:spcPts val="400"/>
              </a:spcBef>
              <a:defRPr sz="1300">
                <a:solidFill>
                  <a:srgbClr val="F0F0F0"/>
                </a:solidFill>
              </a:defRPr>
            </a:pPr>
            <a:r>
              <a:t>  • "Controlled manipulation of the characteristic frequency produces a measurable change in classifier output."</a:t>
            </a:r>
          </a:p>
          <a:p>
            <a:pPr>
              <a:spcBef>
                <a:spcPts val="400"/>
              </a:spcBef>
              <a:defRPr sz="1300">
                <a:solidFill>
                  <a:srgbClr val="F0F0F0"/>
                </a:solidFill>
              </a:defRPr>
            </a:pPr>
            <a:r>
              <a:t>  • "The experiment provides evidence that the classifier responds to the manipulated physical feature."</a:t>
            </a:r>
          </a:p>
          <a:p>
            <a:pPr>
              <a:spcBef>
                <a:spcPts val="1400"/>
              </a:spcBef>
              <a:defRPr sz="1600" b="1">
                <a:solidFill>
                  <a:srgbClr val="EF4444"/>
                </a:solidFill>
              </a:defRPr>
            </a:pPr>
            <a:r>
              <a:t>🚫 PROHIBITED SCIENTIFIC CLAIMS</a:t>
            </a:r>
          </a:p>
          <a:p>
            <a:pPr>
              <a:spcBef>
                <a:spcPts val="400"/>
              </a:spcBef>
              <a:defRPr sz="1300">
                <a:solidFill>
                  <a:srgbClr val="F0F0F0"/>
                </a:solidFill>
              </a:defRPr>
            </a:pPr>
            <a:r>
              <a:t>  • NEVER claim: "Our AI understands physics."</a:t>
            </a:r>
          </a:p>
          <a:p>
            <a:pPr>
              <a:spcBef>
                <a:spcPts val="400"/>
              </a:spcBef>
              <a:defRPr sz="1300">
                <a:solidFill>
                  <a:srgbClr val="F0F0F0"/>
                </a:solidFill>
              </a:defRPr>
            </a:pPr>
            <a:r>
              <a:t>  • NEVER claim: "The AI has discovered causality."</a:t>
            </a:r>
          </a:p>
          <a:p>
            <a:pPr>
              <a:spcBef>
                <a:spcPts val="400"/>
              </a:spcBef>
              <a:defRPr sz="1300">
                <a:solidFill>
                  <a:srgbClr val="F0F0F0"/>
                </a:solidFill>
              </a:defRPr>
            </a:pPr>
            <a:r>
              <a:t>  • NEVER claim: "The model is 100% guaranteed to use the physical feature in all scenarios."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ourier New"/>
              </a:defRPr>
            </a:pPr>
            <a:r>
              <a:t>PHYSIOXAI // NANO TECHNOLOGY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0F0F0"/>
                </a:solidFill>
                <a:latin typeface="Arial"/>
              </a:defRPr>
            </a:pPr>
            <a:r>
              <a:t>7. Technology Stack &amp; Engineering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4171D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Frontend Workstation</a:t>
            </a:r>
          </a:p>
          <a:p>
            <a:pPr>
              <a:spcBef>
                <a:spcPts val="1200"/>
              </a:spcBef>
              <a:defRPr sz="1300">
                <a:solidFill>
                  <a:srgbClr val="F0F0F0"/>
                </a:solidFill>
              </a:defRPr>
            </a:pPr>
            <a:r>
              <a:t>• React 18 &amp; TypeScript</a:t>
            </a:r>
          </a:p>
          <a:p>
            <a:pPr>
              <a:spcBef>
                <a:spcPts val="1200"/>
              </a:spcBef>
              <a:defRPr sz="1300">
                <a:solidFill>
                  <a:srgbClr val="F0F0F0"/>
                </a:solidFill>
              </a:defRPr>
            </a:pPr>
            <a:r>
              <a:t>• Vite &amp; Tailwind CSS</a:t>
            </a:r>
          </a:p>
          <a:p>
            <a:pPr>
              <a:spcBef>
                <a:spcPts val="1200"/>
              </a:spcBef>
              <a:defRPr sz="1300">
                <a:solidFill>
                  <a:srgbClr val="F0F0F0"/>
                </a:solidFill>
              </a:defRPr>
            </a:pPr>
            <a:r>
              <a:t>• Recharts Interactive Charts</a:t>
            </a:r>
          </a:p>
          <a:p>
            <a:pPr>
              <a:spcBef>
                <a:spcPts val="1200"/>
              </a:spcBef>
              <a:defRPr sz="1300">
                <a:solidFill>
                  <a:srgbClr val="F0F0F0"/>
                </a:solidFill>
              </a:defRPr>
            </a:pPr>
            <a:r>
              <a:t>• Axios API Integration</a:t>
            </a:r>
          </a:p>
          <a:p>
            <a:pPr>
              <a:spcBef>
                <a:spcPts val="1200"/>
              </a:spcBef>
              <a:defRPr sz="1300">
                <a:solidFill>
                  <a:srgbClr val="F0F0F0"/>
                </a:solidFill>
              </a:defRPr>
            </a:pPr>
            <a:r>
              <a:t>• Industrial Dark Palette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4171D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F0F0F0"/>
                </a:solidFill>
              </a:defRPr>
            </a:pPr>
            <a:r>
              <a:t>Backend &amp; Signal Math</a:t>
            </a:r>
          </a:p>
          <a:p>
            <a:pPr>
              <a:spcBef>
                <a:spcPts val="1200"/>
              </a:spcBef>
              <a:defRPr sz="1300">
                <a:solidFill>
                  <a:srgbClr val="F0F0F0"/>
                </a:solidFill>
              </a:defRPr>
            </a:pPr>
            <a:r>
              <a:t>• Python 3.10 &amp; FastAPI</a:t>
            </a:r>
          </a:p>
          <a:p>
            <a:pPr>
              <a:spcBef>
                <a:spcPts val="1200"/>
              </a:spcBef>
              <a:defRPr sz="1300">
                <a:solidFill>
                  <a:srgbClr val="F0F0F0"/>
                </a:solidFill>
              </a:defRPr>
            </a:pPr>
            <a:r>
              <a:t>• Pydantic v2 Validation</a:t>
            </a:r>
          </a:p>
          <a:p>
            <a:pPr>
              <a:spcBef>
                <a:spcPts val="1200"/>
              </a:spcBef>
              <a:defRPr sz="1300">
                <a:solidFill>
                  <a:srgbClr val="F0F0F0"/>
                </a:solidFill>
              </a:defRPr>
            </a:pPr>
            <a:r>
              <a:t>• NumPy &amp; SciPy FFT Math</a:t>
            </a:r>
          </a:p>
          <a:p>
            <a:pPr>
              <a:spcBef>
                <a:spcPts val="1200"/>
              </a:spcBef>
              <a:defRPr sz="1300">
                <a:solidFill>
                  <a:srgbClr val="F0F0F0"/>
                </a:solidFill>
              </a:defRPr>
            </a:pPr>
            <a:r>
              <a:t>• Pandas Data Wrangling</a:t>
            </a:r>
          </a:p>
          <a:p>
            <a:pPr>
              <a:spcBef>
                <a:spcPts val="1200"/>
              </a:spcBef>
              <a:defRPr sz="1300">
                <a:solidFill>
                  <a:srgbClr val="F0F0F0"/>
                </a:solidFill>
              </a:defRPr>
            </a:pPr>
            <a:r>
              <a:t>• Uvicorn Async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4171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ML &amp; Security Layer</a:t>
            </a:r>
          </a:p>
          <a:p>
            <a:pPr>
              <a:spcBef>
                <a:spcPts val="1200"/>
              </a:spcBef>
              <a:defRPr sz="1300">
                <a:solidFill>
                  <a:srgbClr val="F0F0F0"/>
                </a:solidFill>
              </a:defRPr>
            </a:pPr>
            <a:r>
              <a:t>• Random Forest Classifier</a:t>
            </a:r>
          </a:p>
          <a:p>
            <a:pPr>
              <a:spcBef>
                <a:spcPts val="1200"/>
              </a:spcBef>
              <a:defRPr sz="1300">
                <a:solidFill>
                  <a:srgbClr val="F0F0F0"/>
                </a:solidFill>
              </a:defRPr>
            </a:pPr>
            <a:r>
              <a:t>• Joblib Server Model Load</a:t>
            </a:r>
          </a:p>
          <a:p>
            <a:pPr>
              <a:spcBef>
                <a:spcPts val="1200"/>
              </a:spcBef>
              <a:defRPr sz="1300">
                <a:solidFill>
                  <a:srgbClr val="F0F0F0"/>
                </a:solidFill>
              </a:defRPr>
            </a:pPr>
            <a:r>
              <a:t>• Safe Memory Stream CSV</a:t>
            </a:r>
          </a:p>
          <a:p>
            <a:pPr>
              <a:spcBef>
                <a:spcPts val="1200"/>
              </a:spcBef>
              <a:defRPr sz="1300">
                <a:solidFill>
                  <a:srgbClr val="F0F0F0"/>
                </a:solidFill>
              </a:defRPr>
            </a:pPr>
            <a:r>
              <a:t>• Strict CORS &amp; CSP Headers</a:t>
            </a:r>
          </a:p>
          <a:p>
            <a:pPr>
              <a:spcBef>
                <a:spcPts val="1200"/>
              </a:spcBef>
              <a:defRPr sz="1300">
                <a:solidFill>
                  <a:srgbClr val="F0F0F0"/>
                </a:solidFill>
              </a:defRPr>
            </a:pPr>
            <a:r>
              <a:t>• Render Cloud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ourier New"/>
              </a:defRPr>
            </a:pPr>
            <a:r>
              <a:t>PHYSIOXAI // NANO TECHNOLOGY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0F0F0"/>
                </a:solidFill>
                <a:latin typeface="Arial"/>
              </a:defRPr>
            </a:pPr>
            <a:r>
              <a:t>8. Security Architecture &amp; Input Hardening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14171D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>
              <a:defRPr sz="2000" b="1">
                <a:solidFill>
                  <a:srgbClr val="D97706"/>
                </a:solidFill>
              </a:defRPr>
            </a:pPr>
            <a:r>
              <a:t>Security Protection Mechanisms</a:t>
            </a:r>
          </a:p>
          <a:p>
            <a:pPr>
              <a:spcBef>
                <a:spcPts val="1200"/>
              </a:spcBef>
              <a:defRPr sz="1350">
                <a:solidFill>
                  <a:srgbClr val="F0F0F0"/>
                </a:solidFill>
              </a:defRPr>
            </a:pPr>
            <a:r>
              <a:t>1. Input Validation &amp; Bounds: Pydantic schemas enforce bounds on signal length (max 50k points), NaN checks, &amp; sampling rate limits.</a:t>
            </a:r>
          </a:p>
          <a:p>
            <a:pPr>
              <a:spcBef>
                <a:spcPts val="1200"/>
              </a:spcBef>
              <a:defRPr sz="1350">
                <a:solidFill>
                  <a:srgbClr val="F0F0F0"/>
                </a:solidFill>
              </a:defRPr>
            </a:pPr>
            <a:r>
              <a:t>2. Safe CSV Parsing: Multi-format memory parser prevents arbitrary code execution and rejects non-CSV / binary upload attacks.</a:t>
            </a:r>
          </a:p>
          <a:p>
            <a:pPr>
              <a:spcBef>
                <a:spcPts val="1200"/>
              </a:spcBef>
              <a:defRPr sz="1350">
                <a:solidFill>
                  <a:srgbClr val="F0F0F0"/>
                </a:solidFill>
              </a:defRPr>
            </a:pPr>
            <a:r>
              <a:t>3. Model Artifact Security: Ban on user model uploads; loads only repository-controlled, verified Random Forest model artifacts.</a:t>
            </a:r>
          </a:p>
          <a:p>
            <a:pPr>
              <a:spcBef>
                <a:spcPts val="1200"/>
              </a:spcBef>
              <a:defRPr sz="1350">
                <a:solidFill>
                  <a:srgbClr val="F0F0F0"/>
                </a:solidFill>
              </a:defRPr>
            </a:pPr>
            <a:r>
              <a:t>4. Path Traversal &amp; Command Protection: Absolute isolation of server paths and zero execution of user-controlled shell subprocesses.</a:t>
            </a:r>
          </a:p>
          <a:p>
            <a:pPr>
              <a:spcBef>
                <a:spcPts val="1200"/>
              </a:spcBef>
              <a:defRPr sz="1350">
                <a:solidFill>
                  <a:srgbClr val="F0F0F0"/>
                </a:solidFill>
              </a:defRPr>
            </a:pPr>
            <a:r>
              <a:t>5. Headers &amp; CORS Security: Custom middleware injecting X-Content-Type-Options, CSP, and restricted CORS origin rules.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ourier New"/>
              </a:defRPr>
            </a:pPr>
            <a:r>
              <a:t>PHYSIOXAI // NANO TECHNOLOGY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0F0F0"/>
                </a:solidFill>
                <a:latin typeface="Arial"/>
              </a:defRPr>
            </a:pPr>
            <a:r>
              <a:t>9. Real-World Applications &amp; Nanotech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1005840"/>
          </a:xfrm>
          <a:prstGeom prst="roundRect">
            <a:avLst/>
          </a:prstGeom>
          <a:solidFill>
            <a:srgbClr val="14171D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700" b="1">
                <a:solidFill>
                  <a:srgbClr val="D97706"/>
                </a:solidFill>
              </a:defRPr>
            </a:pPr>
            <a:r>
              <a:t>Precision Nanomanufacturing</a:t>
            </a:r>
          </a:p>
          <a:p>
            <a:pPr>
              <a:spcBef>
                <a:spcPts val="400"/>
              </a:spcBef>
              <a:defRPr sz="1300">
                <a:solidFill>
                  <a:srgbClr val="A0A5AF"/>
                </a:solidFill>
              </a:defRPr>
            </a:pPr>
            <a:r>
              <a:t>Validating vibration sensor diagnostics in cleanroom nano-fabrication tools to prevent wafer damage.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07040" cy="1005840"/>
          </a:xfrm>
          <a:prstGeom prst="roundRect">
            <a:avLst/>
          </a:prstGeom>
          <a:solidFill>
            <a:srgbClr val="14171D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700" b="1">
                <a:solidFill>
                  <a:srgbClr val="F0F0F0"/>
                </a:solidFill>
              </a:defRPr>
            </a:pPr>
            <a:r>
              <a:t>Predictive Machinery Maintenance</a:t>
            </a:r>
          </a:p>
          <a:p>
            <a:pPr>
              <a:spcBef>
                <a:spcPts val="400"/>
              </a:spcBef>
              <a:defRPr sz="1300">
                <a:solidFill>
                  <a:srgbClr val="A0A5AF"/>
                </a:solidFill>
              </a:defRPr>
            </a:pPr>
            <a:r>
              <a:t>Isolating bearing and gear defect frequencies in turbines and pumps before catastrophic failure.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07040" cy="1005840"/>
          </a:xfrm>
          <a:prstGeom prst="roundRect">
            <a:avLst/>
          </a:prstGeom>
          <a:solidFill>
            <a:srgbClr val="14171D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700" b="1">
                <a:solidFill>
                  <a:srgbClr val="F0F0F0"/>
                </a:solidFill>
              </a:defRPr>
            </a:pPr>
            <a:r>
              <a:t>Safety-Critical Infrastructure</a:t>
            </a:r>
          </a:p>
          <a:p>
            <a:pPr>
              <a:spcBef>
                <a:spcPts val="400"/>
              </a:spcBef>
              <a:defRPr sz="1300">
                <a:solidFill>
                  <a:srgbClr val="A0A5AF"/>
                </a:solidFill>
              </a:defRPr>
            </a:pPr>
            <a:r>
              <a:t>Auditing AI diagnostic models in aviation and power plants to eliminate shortcut learning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607040" cy="1005840"/>
          </a:xfrm>
          <a:prstGeom prst="roundRect">
            <a:avLst/>
          </a:prstGeom>
          <a:solidFill>
            <a:srgbClr val="14171D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700" b="1">
                <a:solidFill>
                  <a:srgbClr val="F0F0F0"/>
                </a:solidFill>
              </a:defRPr>
            </a:pPr>
            <a:r>
              <a:t>Sensor Engineering Verification</a:t>
            </a:r>
          </a:p>
          <a:p>
            <a:pPr>
              <a:spcBef>
                <a:spcPts val="400"/>
              </a:spcBef>
              <a:defRPr sz="1300">
                <a:solidFill>
                  <a:srgbClr val="A0A5AF"/>
                </a:solidFill>
              </a:defRPr>
            </a:pPr>
            <a:r>
              <a:t>Providing sensor manufacturers with empirical verification of classifier sensitivity under noisy environments.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ourier New"/>
              </a:defRPr>
            </a:pPr>
            <a:r>
              <a:t>PHYSIOXAI // NANO TECHNOLOGY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0F0F0"/>
                </a:solidFill>
                <a:latin typeface="Arial"/>
              </a:defRPr>
            </a:pPr>
            <a:r>
              <a:t>10. Experimental Verification &amp; Test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14171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Verification &amp; Validation Metrics</a:t>
            </a:r>
          </a:p>
          <a:p>
            <a:pPr>
              <a:spcBef>
                <a:spcPts val="1400"/>
              </a:spcBef>
              <a:defRPr sz="1400">
                <a:solidFill>
                  <a:srgbClr val="F0F0F0"/>
                </a:solidFill>
              </a:defRPr>
            </a:pPr>
            <a:r>
              <a:t>• Model Training Performance: Random Forest achieved 100% Accuracy, Precision, Recall, &amp; F1-Score on test split.</a:t>
            </a:r>
          </a:p>
          <a:p>
            <a:pPr>
              <a:spcBef>
                <a:spcPts val="1400"/>
              </a:spcBef>
              <a:defRPr sz="1400">
                <a:solidFill>
                  <a:srgbClr val="F0F0F0"/>
                </a:solidFill>
              </a:defRPr>
            </a:pPr>
            <a:r>
              <a:t>• Pytest Suite Pass Rate: 100% pass rate across signal FFT calculations, feature extraction, model inference, and intervention engine.</a:t>
            </a:r>
          </a:p>
          <a:p>
            <a:pPr>
              <a:spcBef>
                <a:spcPts val="1400"/>
              </a:spcBef>
              <a:defRPr sz="1400">
                <a:solidFill>
                  <a:srgbClr val="F0F0F0"/>
                </a:solidFill>
              </a:defRPr>
            </a:pPr>
            <a:r>
              <a:t>• Anti-Cheating Test Verification: Confirmed empirical shift in recomputed signal features and model predictions.</a:t>
            </a:r>
          </a:p>
          <a:p>
            <a:pPr>
              <a:spcBef>
                <a:spcPts val="1400"/>
              </a:spcBef>
              <a:defRPr sz="1400">
                <a:solidFill>
                  <a:srgbClr val="F0F0F0"/>
                </a:solidFill>
              </a:defRPr>
            </a:pPr>
            <a:r>
              <a:t>• Live Deployment Verification: Deployed on Render Static Site + Web Service with full CORS &amp; API integration.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ourier New"/>
              </a:defRPr>
            </a:pPr>
            <a:r>
              <a:t>PHYSIOXAI // NANO TECHNOLOGY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0F0F0"/>
                </a:solidFill>
                <a:latin typeface="Arial"/>
              </a:defRPr>
            </a:pPr>
            <a:r>
              <a:t>11. Conclusion &amp;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14171D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>
              <a:defRPr sz="2200" b="1">
                <a:solidFill>
                  <a:srgbClr val="D97706"/>
                </a:solidFill>
              </a:defRPr>
            </a:pPr>
            <a:r>
              <a:t>PhysioXAI Core Summary</a:t>
            </a:r>
          </a:p>
          <a:p>
            <a:pPr>
              <a:spcBef>
                <a:spcPts val="1400"/>
              </a:spcBef>
              <a:defRPr sz="1500">
                <a:solidFill>
                  <a:srgbClr val="F0F0F0"/>
                </a:solidFill>
              </a:defRPr>
            </a:pPr>
            <a:r>
              <a:t>1. Solved Hackathon Problem: Connects AI predictions to measurable physical features via Controlled Intervention.</a:t>
            </a:r>
          </a:p>
          <a:p>
            <a:pPr>
              <a:spcBef>
                <a:spcPts val="1400"/>
              </a:spcBef>
              <a:defRPr sz="1500">
                <a:solidFill>
                  <a:srgbClr val="F0F0F0"/>
                </a:solidFill>
              </a:defRPr>
            </a:pPr>
            <a:r>
              <a:t>2. Proven Anti-Cheating Math: Frequency-domain signal modification (FFT/IFFT) evaluated blindly by the same ML model.</a:t>
            </a:r>
          </a:p>
          <a:p>
            <a:pPr>
              <a:spcBef>
                <a:spcPts val="1400"/>
              </a:spcBef>
              <a:defRPr sz="1500">
                <a:solidFill>
                  <a:srgbClr val="F0F0F0"/>
                </a:solidFill>
              </a:defRPr>
            </a:pPr>
            <a:r>
              <a:t>3. Scientifically Responsible: Strict adherence to defensible claims without over-promising AI capabilities.</a:t>
            </a:r>
          </a:p>
          <a:p>
            <a:pPr>
              <a:spcBef>
                <a:spcPts val="1400"/>
              </a:spcBef>
              <a:defRPr sz="1500">
                <a:solidFill>
                  <a:srgbClr val="F0F0F0"/>
                </a:solidFill>
              </a:defRPr>
            </a:pPr>
            <a:r>
              <a:t>4. Full-Stack Production Quality: High data-density React dashboard, secure FastAPI backend, 100% tested &amp; deployed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